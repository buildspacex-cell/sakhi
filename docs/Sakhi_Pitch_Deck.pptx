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631436" y="1234440"/>
            <a:ext cx="2926080" cy="2926080"/>
          </a:xfrm>
          <a:prstGeom prst="ellipse">
            <a:avLst/>
          </a:prstGeom>
          <a:solidFill>
            <a:srgbClr val="101830"/>
          </a:solidFill>
          <a:ln w="5080">
            <a:solidFill>
              <a:srgbClr val="8C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97196" y="1600200"/>
            <a:ext cx="2194560" cy="2194560"/>
          </a:xfrm>
          <a:prstGeom prst="ellipse">
            <a:avLst/>
          </a:prstGeom>
          <a:solidFill>
            <a:srgbClr val="14203E"/>
          </a:solidFill>
          <a:ln w="7620">
            <a:solidFill>
              <a:srgbClr val="8C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62956" y="1965960"/>
            <a:ext cx="1463040" cy="1463040"/>
          </a:xfrm>
          <a:prstGeom prst="ellipse">
            <a:avLst/>
          </a:prstGeom>
          <a:solidFill>
            <a:srgbClr val="1A2A52"/>
          </a:solidFill>
          <a:ln w="12700">
            <a:solidFill>
              <a:srgbClr val="8C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62956" y="249631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CB7FF"/>
                </a:solidFill>
              </a:rPr>
              <a:t>SAKHI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0332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Your life, connected across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38912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ED8"/>
                </a:solidFill>
              </a:rPr>
              <a:t>A companion intelligence that holds your life together so you can shape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7A96"/>
                </a:solidFill>
              </a:rPr>
              <a:t>founders@sakhiintelligence.com  ·  Sakhi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There's a conversation
happening in your 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BED8"/>
                </a:solidFill>
              </a:rPr>
              <a:t>It never really stops.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BED8"/>
                </a:solidFill>
              </a:rPr>
              <a:t>And it doesn't carry forward.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Nothing actually holds it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914400"/>
            <a:ext cx="3474720" cy="347472"/>
          </a:xfrm>
          <a:prstGeom prst="rect">
            <a:avLst/>
          </a:prstGeom>
          <a:solidFill>
            <a:srgbClr val="0E1426"/>
          </a:solidFill>
          <a:ln w="6350">
            <a:solidFill>
              <a:srgbClr val="22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91440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0BED8"/>
                </a:solidFill>
              </a:rPr>
              <a:t>did I reply?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554480"/>
            <a:ext cx="3474720" cy="347472"/>
          </a:xfrm>
          <a:prstGeom prst="rect">
            <a:avLst/>
          </a:prstGeom>
          <a:solidFill>
            <a:srgbClr val="121C38"/>
          </a:solidFill>
          <a:ln w="6350">
            <a:solidFill>
              <a:srgbClr val="50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D59A"/>
                </a:solidFill>
              </a:rPr>
              <a:t>✦ I just had a breakthrough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194560"/>
            <a:ext cx="3474720" cy="347472"/>
          </a:xfrm>
          <a:prstGeom prst="rect">
            <a:avLst/>
          </a:prstGeom>
          <a:solidFill>
            <a:srgbClr val="0E1426"/>
          </a:solidFill>
          <a:ln w="6350">
            <a:solidFill>
              <a:srgbClr val="22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9456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0BED8"/>
                </a:solidFill>
              </a:rPr>
              <a:t>flu shot for the kids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834640"/>
            <a:ext cx="3474720" cy="347472"/>
          </a:xfrm>
          <a:prstGeom prst="rect">
            <a:avLst/>
          </a:prstGeom>
          <a:solidFill>
            <a:srgbClr val="0E1426"/>
          </a:solidFill>
          <a:ln w="6350">
            <a:solidFill>
              <a:srgbClr val="22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83464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0BED8"/>
                </a:solidFill>
              </a:rPr>
              <a:t>this thread isn't finished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474720"/>
            <a:ext cx="3474720" cy="347472"/>
          </a:xfrm>
          <a:prstGeom prst="rect">
            <a:avLst/>
          </a:prstGeom>
          <a:solidFill>
            <a:srgbClr val="0E1426"/>
          </a:solidFill>
          <a:ln w="6350">
            <a:solidFill>
              <a:srgbClr val="22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47472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0BED8"/>
                </a:solidFill>
              </a:rPr>
              <a:t>pick up laundry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4114800"/>
            <a:ext cx="3474720" cy="347472"/>
          </a:xfrm>
          <a:prstGeom prst="rect">
            <a:avLst/>
          </a:prstGeom>
          <a:solidFill>
            <a:srgbClr val="0E1426"/>
          </a:solidFill>
          <a:ln w="6350">
            <a:solidFill>
              <a:srgbClr val="22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11480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0BED8"/>
                </a:solidFill>
              </a:rPr>
              <a:t>what did I promise?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4754880"/>
            <a:ext cx="3474720" cy="347472"/>
          </a:xfrm>
          <a:prstGeom prst="rect">
            <a:avLst/>
          </a:prstGeom>
          <a:solidFill>
            <a:srgbClr val="121C38"/>
          </a:solidFill>
          <a:ln w="6350">
            <a:solidFill>
              <a:srgbClr val="50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475488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D59A"/>
                </a:solidFill>
              </a:rPr>
              <a:t>✦ this connects it 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394960"/>
            <a:ext cx="3474720" cy="347472"/>
          </a:xfrm>
          <a:prstGeom prst="rect">
            <a:avLst/>
          </a:prstGeom>
          <a:solidFill>
            <a:srgbClr val="0E1426"/>
          </a:solidFill>
          <a:ln w="6350">
            <a:solidFill>
              <a:srgbClr val="22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539496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0BED8"/>
                </a:solidFill>
              </a:rPr>
              <a:t>need to follow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THE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0BED8"/>
                </a:solidFill>
              </a:rPr>
              <a:t>You wind down for the day.
The signal fades with it.
By morning, the thread is gone.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474720"/>
            <a:ext cx="3291840" cy="594360"/>
          </a:xfrm>
          <a:prstGeom prst="rect">
            <a:avLst/>
          </a:prstGeom>
          <a:solidFill>
            <a:srgbClr val="12182C"/>
          </a:solidFill>
          <a:ln w="6350">
            <a:solidFill>
              <a:srgbClr val="28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3291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</a:rPr>
              <a:t>Thoughts reset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474720"/>
            <a:ext cx="3291840" cy="594360"/>
          </a:xfrm>
          <a:prstGeom prst="rect">
            <a:avLst/>
          </a:prstGeom>
          <a:solidFill>
            <a:srgbClr val="12182C"/>
          </a:solidFill>
          <a:ln w="6350">
            <a:solidFill>
              <a:srgbClr val="28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3474720"/>
            <a:ext cx="3291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</a:rPr>
              <a:t>Good ideas die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3474720"/>
            <a:ext cx="3291840" cy="594360"/>
          </a:xfrm>
          <a:prstGeom prst="rect">
            <a:avLst/>
          </a:prstGeom>
          <a:solidFill>
            <a:srgbClr val="12182C"/>
          </a:solidFill>
          <a:ln w="6350">
            <a:solidFill>
              <a:srgbClr val="28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474720"/>
            <a:ext cx="3291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</a:rPr>
              <a:t>Continuity is 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A7A96"/>
                </a:solidFill>
              </a:rPr>
              <a:t>Every tool we use treats each day as a separate conversation.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Sakhi makes it all
come together.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BED8"/>
                </a:solidFill>
              </a:rPr>
              <a:t>You do not have to be driven by your thoughts.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09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You can shape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Stop reacting.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6A7A96"/>
                </a:solidFill>
              </a:rPr>
              <a:t>Start shaping.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D8"/>
                </a:solidFill>
              </a:rPr>
              <a:t>Sakhi learns how you think and evolves with you,
so your decisions become clearer over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3566160" cy="201168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Pillar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Builds a living model of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66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8"/>
                </a:solidFill>
              </a:rPr>
              <a:t>It evolves over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4297680"/>
            <a:ext cx="3566160" cy="201168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434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Pillar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Makes your life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166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8"/>
                </a:solidFill>
              </a:rPr>
              <a:t>Across time, as a whole.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4297680"/>
            <a:ext cx="3566160" cy="201168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4434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Pillar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Helps you act decisively.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5166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8"/>
                </a:solidFill>
              </a:rPr>
              <a:t>It learns from what follows.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CONTINUITY  ·  VIDHYA ·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Life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8"/>
                </a:solidFill>
              </a:rPr>
              <a:t>Bubble size reflects how much each thread has occupied your attention.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0"/>
            <a:ext cx="1828800" cy="82296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804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 threads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170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A7A96"/>
                </a:solidFill>
              </a:rPr>
              <a:t>Active</a:t>
            </a:r>
          </a:p>
        </p:txBody>
      </p:sp>
      <p:sp>
        <p:nvSpPr>
          <p:cNvPr id="8" name="Oval 7"/>
          <p:cNvSpPr/>
          <p:nvPr/>
        </p:nvSpPr>
        <p:spPr>
          <a:xfrm>
            <a:off x="2514600" y="2331720"/>
            <a:ext cx="2286000" cy="2286000"/>
          </a:xfrm>
          <a:prstGeom prst="ellipse">
            <a:avLst/>
          </a:prstGeom>
          <a:solidFill>
            <a:srgbClr val="182850"/>
          </a:solidFill>
          <a:ln w="15240">
            <a:solidFill>
              <a:srgbClr val="8C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7066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Start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21137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957523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8"/>
                </a:solidFill>
              </a:rPr>
              <a:t>28 moments</a:t>
            </a:r>
          </a:p>
        </p:txBody>
      </p:sp>
      <p:sp>
        <p:nvSpPr>
          <p:cNvPr id="12" name="Oval 11"/>
          <p:cNvSpPr/>
          <p:nvPr/>
        </p:nvSpPr>
        <p:spPr>
          <a:xfrm>
            <a:off x="6857999" y="1188720"/>
            <a:ext cx="1280160" cy="1280160"/>
          </a:xfrm>
          <a:prstGeom prst="ellipse">
            <a:avLst/>
          </a:prstGeom>
          <a:solidFill>
            <a:srgbClr val="101830"/>
          </a:solidFill>
          <a:ln w="7620">
            <a:solidFill>
              <a:srgbClr val="28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19" y="14127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19" y="1686153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19" y="209031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D8"/>
                </a:solidFill>
              </a:rPr>
              <a:t>6 moments</a:t>
            </a:r>
          </a:p>
        </p:txBody>
      </p:sp>
      <p:sp>
        <p:nvSpPr>
          <p:cNvPr id="16" name="Oval 15"/>
          <p:cNvSpPr/>
          <p:nvPr/>
        </p:nvSpPr>
        <p:spPr>
          <a:xfrm>
            <a:off x="5440680" y="4251960"/>
            <a:ext cx="1005840" cy="1005840"/>
          </a:xfrm>
          <a:prstGeom prst="ellipse">
            <a:avLst/>
          </a:prstGeom>
          <a:solidFill>
            <a:srgbClr val="101830"/>
          </a:solidFill>
          <a:ln w="7620">
            <a:solidFill>
              <a:srgbClr val="28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Caregiving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64515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9560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D8"/>
                </a:solidFill>
              </a:rPr>
              <a:t>3 moments</a:t>
            </a:r>
          </a:p>
        </p:txBody>
      </p:sp>
      <p:sp>
        <p:nvSpPr>
          <p:cNvPr id="20" name="Oval 19"/>
          <p:cNvSpPr/>
          <p:nvPr/>
        </p:nvSpPr>
        <p:spPr>
          <a:xfrm>
            <a:off x="6995159" y="3520440"/>
            <a:ext cx="1005840" cy="1005840"/>
          </a:xfrm>
          <a:prstGeom prst="ellipse">
            <a:avLst/>
          </a:prstGeom>
          <a:solidFill>
            <a:srgbClr val="101830"/>
          </a:solidFill>
          <a:ln w="7620">
            <a:solidFill>
              <a:srgbClr val="28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79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Career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391363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42245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D8"/>
                </a:solidFill>
              </a:rPr>
              <a:t>3 moments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2514600"/>
            <a:ext cx="1005840" cy="1005840"/>
          </a:xfrm>
          <a:prstGeom prst="ellipse">
            <a:avLst/>
          </a:prstGeom>
          <a:solidFill>
            <a:srgbClr val="101830"/>
          </a:solidFill>
          <a:ln w="7620">
            <a:solidFill>
              <a:srgbClr val="28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Self 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90779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218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D8"/>
                </a:solidFill>
              </a:rPr>
              <a:t>3 moments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START UP  ·  CONTINUITY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104 days of continuity — the startup thread, mapped.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651760" cy="1554480"/>
          </a:xfrm>
          <a:prstGeom prst="rect">
            <a:avLst/>
          </a:prstGeom>
          <a:solidFill>
            <a:srgbClr val="0A1226"/>
          </a:solidFill>
          <a:ln w="12700">
            <a:solidFill>
              <a:srgbClr val="284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CB7FF"/>
                </a:solidFill>
              </a:rPr>
              <a:t>Where It Began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3560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 idea with 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20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Day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143000"/>
            <a:ext cx="2651760" cy="1554480"/>
          </a:xfrm>
          <a:prstGeom prst="rect">
            <a:avLst/>
          </a:prstGeom>
          <a:solidFill>
            <a:srgbClr val="080E1C"/>
          </a:solidFill>
          <a:ln w="6350"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234440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A7A96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3560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Founder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74520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Day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1143000"/>
            <a:ext cx="2651760" cy="1554480"/>
          </a:xfrm>
          <a:prstGeom prst="rect">
            <a:avLst/>
          </a:prstGeom>
          <a:solidFill>
            <a:srgbClr val="080E1C"/>
          </a:solidFill>
          <a:ln w="6350"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234440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A7A96"/>
                </a:solidFill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43560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Rhythm clicked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874520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Day 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72016" y="1143000"/>
            <a:ext cx="2651760" cy="1554480"/>
          </a:xfrm>
          <a:prstGeom prst="rect">
            <a:avLst/>
          </a:prstGeom>
          <a:solidFill>
            <a:srgbClr val="080E1C"/>
          </a:solidFill>
          <a:ln w="6350"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4" y="1234440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A7A96"/>
                </a:solidFill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1435608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RAG felt brittle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1874520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Day 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72016" y="2898648"/>
            <a:ext cx="2651760" cy="1554480"/>
          </a:xfrm>
          <a:prstGeom prst="rect">
            <a:avLst/>
          </a:prstGeom>
          <a:solidFill>
            <a:srgbClr val="080E1C"/>
          </a:solidFill>
          <a:ln w="6350"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4" y="2990088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A7A96"/>
                </a:solidFill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3191256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Knowledge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3630168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Day 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4224" y="2898648"/>
            <a:ext cx="2651760" cy="1554480"/>
          </a:xfrm>
          <a:prstGeom prst="rect">
            <a:avLst/>
          </a:prstGeom>
          <a:solidFill>
            <a:srgbClr val="080E1C"/>
          </a:solidFill>
          <a:ln w="6350"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990088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A7A96"/>
                </a:solidFill>
              </a:rPr>
              <a:t>Phase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191256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Still uneasy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630168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Day 35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56432" y="2898648"/>
            <a:ext cx="2651760" cy="1554480"/>
          </a:xfrm>
          <a:prstGeom prst="rect">
            <a:avLst/>
          </a:prstGeom>
          <a:solidFill>
            <a:srgbClr val="080E1C"/>
          </a:solidFill>
          <a:ln w="6350"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2990088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A7A96"/>
                </a:solidFill>
              </a:rPr>
              <a:t>Phase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191256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Clarity surfaced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630168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Day 41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898648"/>
            <a:ext cx="2651760" cy="1554480"/>
          </a:xfrm>
          <a:prstGeom prst="rect">
            <a:avLst/>
          </a:prstGeom>
          <a:solidFill>
            <a:srgbClr val="080E1C"/>
          </a:solidFill>
          <a:ln w="6350"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990088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A7A96"/>
                </a:solidFill>
              </a:rPr>
              <a:t>Phase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191256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Validation pressure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630168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Day 58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654296"/>
            <a:ext cx="2651760" cy="1554480"/>
          </a:xfrm>
          <a:prstGeom prst="rect">
            <a:avLst/>
          </a:prstGeom>
          <a:solidFill>
            <a:srgbClr val="080E1C"/>
          </a:solidFill>
          <a:ln w="6350"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745736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A7A96"/>
                </a:solidFill>
              </a:rPr>
              <a:t>Phase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946904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Build, not pitch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385816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Day 66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56432" y="4654296"/>
            <a:ext cx="2651760" cy="1554480"/>
          </a:xfrm>
          <a:prstGeom prst="rect">
            <a:avLst/>
          </a:prstGeom>
          <a:solidFill>
            <a:srgbClr val="080E1C"/>
          </a:solidFill>
          <a:ln w="6350"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4745736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A7A96"/>
                </a:solidFill>
              </a:rPr>
              <a:t>Phase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946904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Continuity 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5385816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Day 72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64224" y="4654296"/>
            <a:ext cx="2651760" cy="1554480"/>
          </a:xfrm>
          <a:prstGeom prst="rect">
            <a:avLst/>
          </a:prstGeom>
          <a:solidFill>
            <a:srgbClr val="080E1C"/>
          </a:solidFill>
          <a:ln w="6350">
            <a:solidFill>
              <a:srgbClr val="18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4745736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A7A96"/>
                </a:solidFill>
              </a:rPr>
              <a:t>Phase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3952" y="4946904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Product shape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5385816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Day 115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72016" y="4654296"/>
            <a:ext cx="2651760" cy="1554480"/>
          </a:xfrm>
          <a:prstGeom prst="rect">
            <a:avLst/>
          </a:prstGeom>
          <a:solidFill>
            <a:srgbClr val="0A1226"/>
          </a:solidFill>
          <a:ln w="12700">
            <a:solidFill>
              <a:srgbClr val="284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81744" y="4745736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CB7FF"/>
                </a:solidFill>
              </a:rPr>
              <a:t>Where It Is Now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81744" y="4946904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 visible direction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81744" y="5385816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B7FF"/>
                </a:solidFill>
              </a:rPr>
              <a:t>104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Your life, connected
across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D8"/>
                </a:solidFill>
              </a:rPr>
              <a:t>Noise becomes pattern.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D8"/>
                </a:solidFill>
              </a:rPr>
              <a:t>Pattern becomes readable occupancy.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D8"/>
                </a:solidFill>
              </a:rPr>
              <a:t>The system gathers scattered moments and returns which threads have actually occupied your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D8"/>
                </a:solidFill>
              </a:rPr>
              <a:t>So it shows not just what is happening now, but what has been taking up space across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This is where scattered life becomes coherent.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FIRST EXPRESSION OF SAKHI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product starts where life
actually happens.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D8"/>
                </a:solidFill>
              </a:rPr>
              <a:t>Conversation, reflection, moments, and privacy form the first expression of Sakhi.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71800"/>
            <a:ext cx="2651760" cy="347472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081528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55848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Start talking. Sakhi does the 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2432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It keeps the thread. It builds over time. It evolves with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971800"/>
            <a:ext cx="2651760" cy="347472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3081528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Reflection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3355848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Your life becomes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4160520"/>
            <a:ext cx="2432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Across time and topics, everything connects. Patterns emerge from what you've lived.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971800"/>
            <a:ext cx="2651760" cy="347472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081528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Continuity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355848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Your story starts to take shape.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160520"/>
            <a:ext cx="2432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Each thread becomes something you can return to, and build 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2971800"/>
            <a:ext cx="2651760" cy="347472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3081528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3355848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you share stays yours.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4160520"/>
            <a:ext cx="2432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End-to-end encrypted. No one reads your conversations. Not even Sakhi.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GO TO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Built for people
managing complex lives.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D8"/>
                </a:solidFill>
              </a:rPr>
              <a:t>Urban professionals, founders, and knowledge workers who carry more threads than any tool can hold.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3566160" cy="219456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WHO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47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The person who holds it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4164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Executives, founders, caregivers — navigating career, family, health simultaneously.
Urban India · 28–50.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3200400"/>
            <a:ext cx="3566160" cy="219456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31012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547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Personal AI companion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4164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Mobile-first, voice-native. One conversation → thread → pattern → clarity.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200400"/>
            <a:ext cx="3566160" cy="219456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31012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547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Platform and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04164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Enterprise continuity. Sakhi Mesh (shared context). API layer for developers.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577840"/>
            <a:ext cx="3566160" cy="1005840"/>
          </a:xfrm>
          <a:prstGeom prst="rect">
            <a:avLst/>
          </a:prstGeom>
          <a:solidFill>
            <a:srgbClr val="0A1222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50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D8"/>
                </a:solidFill>
              </a:rPr>
              <a:t>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253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30 conversations/month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453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A96"/>
                </a:solidFill>
              </a:rPr>
              <a:t>Try it, feel the difference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5577840"/>
            <a:ext cx="3566160" cy="1005840"/>
          </a:xfrm>
          <a:prstGeom prst="rect">
            <a:avLst/>
          </a:prstGeom>
          <a:solidFill>
            <a:srgbClr val="0E1A3A"/>
          </a:solidFill>
          <a:ln w="12700">
            <a:solidFill>
              <a:srgbClr val="386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650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B7FF"/>
                </a:solidFill>
              </a:rPr>
              <a:t>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9253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₹999 /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62453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A96"/>
                </a:solidFill>
              </a:rPr>
              <a:t>Unlimited memory, voice, reflection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5577840"/>
            <a:ext cx="3566160" cy="1005840"/>
          </a:xfrm>
          <a:prstGeom prst="rect">
            <a:avLst/>
          </a:prstGeom>
          <a:solidFill>
            <a:srgbClr val="0A1222"/>
          </a:solidFill>
          <a:ln w="1270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5650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D8"/>
                </a:solidFill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59253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62453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A96"/>
                </a:solidFill>
              </a:rPr>
              <a:t>Teams, shared context, API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</a:rPr>
              <a:t>10,000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active users — Year 1 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34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D8"/>
                </a:solidFill>
              </a:rPr>
              <a:t>100K is the Series A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92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D8"/>
                </a:solidFill>
              </a:rPr>
              <a:t>15% D30 retention at scale proves the loop.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Sakhi makes your life seen,
understood, and actionable.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3566160" cy="256032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 see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8"/>
                </a:solidFill>
              </a:rPr>
              <a:t>Build a living model of you evolving over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926080"/>
            <a:ext cx="3566160" cy="256032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108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 understand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023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8"/>
                </a:solidFill>
              </a:rPr>
              <a:t>Make your life visible across time, as a whole.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926080"/>
            <a:ext cx="3566160" cy="256032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108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 act for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023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8"/>
                </a:solidFill>
              </a:rPr>
              <a:t>Help you act decisively and learn from what follows.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B7FF"/>
                </a:solidFill>
              </a:rPr>
              <a:t>— Sakhi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 i="0">
                <a:solidFill>
                  <a:srgbClr val="FFFFFF"/>
                </a:solidFill>
              </a:rPr>
              <a:t>The Minds
Behind...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FOUNDERS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CO-FOUNDER &amp; CEO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Vidhya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8"/>
                </a:solidFill>
              </a:rPr>
              <a:t>Built systems for companies. Now building one for humans.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6217920" cy="1280160"/>
          </a:xfrm>
          <a:prstGeom prst="rect">
            <a:avLst/>
          </a:prstGeom>
          <a:solidFill>
            <a:srgbClr val="0C142C"/>
          </a:solidFill>
          <a:ln w="12700">
            <a:solidFill>
              <a:srgbClr val="284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"I've spent 20+ years helping organizations make better decisions.
I realized we haven't solved this for individuals."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37560"/>
            <a:ext cx="3520440" cy="2103120"/>
          </a:xfrm>
          <a:prstGeom prst="rect">
            <a:avLst/>
          </a:prstGeom>
          <a:solidFill>
            <a:srgbClr val="0A1224"/>
          </a:solidFill>
          <a:ln w="12700">
            <a:solidFill>
              <a:srgbClr val="203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4472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Operator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8404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Worked alongside CEOs and COOs, building systems that turned ambiguity into structured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39" y="3337560"/>
            <a:ext cx="3520440" cy="2103120"/>
          </a:xfrm>
          <a:prstGeom prst="rect">
            <a:avLst/>
          </a:prstGeom>
          <a:solidFill>
            <a:srgbClr val="0A1224"/>
          </a:solidFill>
          <a:ln w="12700">
            <a:solidFill>
              <a:srgbClr val="203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7" y="34472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Personal Inflection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7" y="38404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In 2024, caregiving, leadership, and life complexity collided. What was missing was continuity at the level of a real human life.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78" y="3337560"/>
            <a:ext cx="3520440" cy="2103120"/>
          </a:xfrm>
          <a:prstGeom prst="rect">
            <a:avLst/>
          </a:prstGeom>
          <a:solidFill>
            <a:srgbClr val="0A1224"/>
          </a:solidFill>
          <a:ln w="12700">
            <a:solidFill>
              <a:srgbClr val="203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6" y="34472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Insight to Sakhi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6" y="38404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Small, personalized interventions changed everything. Timing and personalization mattered more than generic advice.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</a:rPr>
              <a:t>"Sakhi is the system I wish existed when I needed it most."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B7FF"/>
                </a:solidFill>
              </a:rPr>
              <a:t>CO-FOUNDER &amp; 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Ravi Shankar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8"/>
                </a:solidFill>
              </a:rPr>
              <a:t>Built systems across engineering, product, and AI. Now building one for the 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6217920" cy="1097280"/>
          </a:xfrm>
          <a:prstGeom prst="rect">
            <a:avLst/>
          </a:prstGeom>
          <a:solidFill>
            <a:srgbClr val="0C142C"/>
          </a:solidFill>
          <a:ln w="12700">
            <a:solidFill>
              <a:srgbClr val="284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"I'm a systems thinker at heart, grounded in deep technical expertise
and driven to simplify complexity."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2697480" cy="2286000"/>
          </a:xfrm>
          <a:prstGeom prst="rect">
            <a:avLst/>
          </a:prstGeom>
          <a:solidFill>
            <a:srgbClr val="0A1224"/>
          </a:solidFill>
          <a:ln w="12700">
            <a:solidFill>
              <a:srgbClr val="203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3101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6576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Started with engineering; kept moving closer to the question of what actually makes systems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4448" y="3200400"/>
            <a:ext cx="2697480" cy="2286000"/>
          </a:xfrm>
          <a:prstGeom prst="rect">
            <a:avLst/>
          </a:prstGeom>
          <a:solidFill>
            <a:srgbClr val="0A1224"/>
          </a:solidFill>
          <a:ln w="12700">
            <a:solidFill>
              <a:srgbClr val="203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33101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36576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Systems succeed because people understand, trust, and use them — not just because they are built well.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6" y="3200400"/>
            <a:ext cx="2697480" cy="2286000"/>
          </a:xfrm>
          <a:prstGeom prst="rect">
            <a:avLst/>
          </a:prstGeom>
          <a:solidFill>
            <a:srgbClr val="0A1224"/>
          </a:solidFill>
          <a:ln w="12700">
            <a:solidFill>
              <a:srgbClr val="203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33101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36576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Moved across engineering, product, and product marketing. Yoga and meditation deepened how he thinks about human behavior.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90304" y="3200400"/>
            <a:ext cx="2697480" cy="2286000"/>
          </a:xfrm>
          <a:prstGeom prst="rect">
            <a:avLst/>
          </a:prstGeom>
          <a:solidFill>
            <a:srgbClr val="0A1224"/>
          </a:solidFill>
          <a:ln w="12700">
            <a:solidFill>
              <a:srgbClr val="203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2" y="33101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Convergence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36576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Technical depth, systems thinking, product narrative, and lived understanding converge in building Sakhi.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</a:rPr>
              <a:t>"That gives me the clarity to build Sakhi."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This is just
the beginning.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ED8"/>
                </a:solidFill>
              </a:rPr>
              <a:t>If this resonates, let's build this together.
We share everything: vision, GTM, early product, and roadmap.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297680"/>
            <a:ext cx="4937760" cy="164592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Collaborate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800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If you believe we should shape our lives, not just react to them, come build this with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297680"/>
            <a:ext cx="4937760" cy="1645920"/>
          </a:xfrm>
          <a:prstGeom prst="rect">
            <a:avLst/>
          </a:prstGeom>
          <a:solidFill>
            <a:srgbClr val="0C1428"/>
          </a:solidFill>
          <a:ln w="12700">
            <a:solidFill>
              <a:srgbClr val="22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Invest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4800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8"/>
                </a:solidFill>
              </a:rPr>
              <a:t>For investors who see this space the way we do, we share everything: vision, GTM, early product, and roadmap.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7A96"/>
                </a:solidFill>
              </a:rPr>
              <a:t>For collaboration or investment: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276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CB7FF"/>
                </a:solidFill>
              </a:rPr>
              <a:t>founders@sakhiintelligence.com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A96"/>
                </a:solidFill>
              </a:rPr>
              <a:t>Sakhi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